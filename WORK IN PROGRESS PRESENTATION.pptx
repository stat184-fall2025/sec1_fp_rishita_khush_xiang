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58" r:id="rId5"/>
    <p:sldId id="262" r:id="rId6"/>
    <p:sldId id="259" r:id="rId7"/>
    <p:sldId id="263" r:id="rId8"/>
    <p:sldId id="260" r:id="rId9"/>
    <p:sldId id="264" r:id="rId10"/>
    <p:sldId id="261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34"/>
    <p:restoredTop sz="94758"/>
  </p:normalViewPr>
  <p:slideViewPr>
    <p:cSldViewPr snapToGrid="0">
      <p:cViewPr varScale="1">
        <p:scale>
          <a:sx n="101" d="100"/>
          <a:sy n="101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80FD4-9C14-1547-A1A5-E96F5CD9F4BB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21740-F18B-3244-B2F4-FD05EB2BE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21740-F18B-3244-B2F4-FD05EB2BEA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21740-F18B-3244-B2F4-FD05EB2BEA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59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0BD0-F9C1-CC03-E6CD-574306FF5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9F21D-03FD-1E79-0D63-7F467A93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6BC6E-C2A1-5883-4AD4-FA43A99E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4D397-7CFC-092C-4930-AFA59176A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4AFE4-1664-2DC9-E5BE-DA643EE7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9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2484-EEE2-EC3C-B59E-D57DEA1F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70FAF-876B-ADEA-6B90-4F3B87AE6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1D41C-FD93-9F9C-742C-3F344938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C9FE1-00A1-2388-5AC4-980289B8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12C4D-74BA-8118-31F5-210C0179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6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F4D0-3C1E-35B1-CF77-E86798EAB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5D9ED-9356-AAAF-729A-38097EB1E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6CBD2-981F-DACC-5BA4-E36736C9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2D51-EA55-7C10-3250-6D8C6D68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AB11D-9DCE-1709-3F90-899472CD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7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2EE3-7240-C84C-8F34-529C4CEB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44E6C-E206-C5FB-7258-8627A5EC7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AA74C-F782-3A49-AADA-D418C7C10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9E8D6-96FB-6319-DD9B-BA675D27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2A356-4082-2061-6E76-1FC03A105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D1463-F4E8-72E5-B2AC-2E05109D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6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1753-0509-A6A6-56DF-7877366A2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0F9B5-C0DF-DFCC-B91A-762729793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ADDBA-13AF-A835-D317-61EF629AD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F57FB-00BC-6B03-A43F-E73A580CC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15E5D-5696-7D26-4EAD-8E457AA2E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273EF-D688-227C-CF5C-57A91991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9902E-1533-B36C-1507-73993A7B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69DD4-E564-B915-E311-10BB9D45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F58A-3DD2-E778-8BAB-47217413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FCEFD-5607-0BC6-82C1-673A506D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52B83-392B-388A-CDF9-2E26E05F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D2D9C-3A24-49F5-6FE5-6DFE4944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77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1F9315-B1E4-9A33-93F2-38E8209E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F84E6-3F14-775F-87DF-37620C33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51379-6B20-3222-2976-963F1533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8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8C11-5E5B-CA34-7578-37E31835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DED3-BB58-9CEF-7DC9-2F4C55A38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18E03-937B-A47D-994E-57D8C7514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E1EA3-EA72-8602-2191-27EDE5D0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BF8EE-CE3A-8F17-293D-51B43E0F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50FE0-7E97-B9D9-6EE3-1CB656C1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ADC8-7DDD-A9C1-57A8-56374129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8642B-766B-678F-7C1D-A583C5E2A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7E3F7-0DBD-23E2-D217-9A5D12CEF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715F9-64EE-6E40-3F58-E024EAEE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7475D-C48F-440B-6FA6-08E381B9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A5A87-813D-E1F3-2E2F-AA2F1852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4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CBFB-8720-C7A7-1E7E-8FDE6545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DF8C2-6F38-ACE6-C12E-AC89EC600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50D03-65DA-F210-2A5F-D2BE27DE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29FAD-D8B4-BC3F-BCBE-F8F0589BB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43F0-E1BF-6180-C44D-BBC14E2E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3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950A5-1891-48A4-F3B8-F97E26ED7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360DC-1B68-90ED-3AB5-614EDF6C4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0ED52-5FA1-7650-BABE-F54A45AF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22D7E-49CD-9DEF-A2A2-12AF947D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04754-CC81-5540-B428-CF0D6CCC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E18CE-2EBC-A494-738E-90C9FB00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BBB7A-6CDD-1058-11D3-3A52F6244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5D44-CEA6-EBE7-0D1B-7419C8D8E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5AC98-693E-0942-81AC-09EBB7C6AC2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1AB71-9479-12F7-6258-2FAC015DD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32D10-F970-D688-B09C-F29230D02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E7869-C517-5442-96A4-84596CCAC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5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72CE-7F67-DDB8-A9DF-36794BA10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80573" y="1359580"/>
            <a:ext cx="13353143" cy="23876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 IN 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36B9F-EFC4-4FAC-3C58-FF1320537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747180"/>
            <a:ext cx="9144000" cy="1655762"/>
          </a:xfrm>
          <a:solidFill>
            <a:schemeClr val="bg1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Rishita, Khush, Xiang </a:t>
            </a:r>
          </a:p>
        </p:txBody>
      </p:sp>
    </p:spTree>
    <p:extLst>
      <p:ext uri="{BB962C8B-B14F-4D97-AF65-F5344CB8AC3E}">
        <p14:creationId xmlns:p14="http://schemas.microsoft.com/office/powerpoint/2010/main" val="179119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C85B-3E1E-0CC3-AC8C-7DD219D8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CA2D5-07FD-73AF-081D-ECF5F320E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Our dataset consists of information regarding 32,833 Spotify tracks authored by Charlie Thompson, Josiah Parry, Donal Phipps, and Tom Wolff and was found through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TidyTuesday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It includes multiple audio features such as track popularity, loudness, liveliness, energy, etc. Throughout this project, we plan on exploring relationships between multiple attributes. </a:t>
            </a:r>
          </a:p>
        </p:txBody>
      </p:sp>
    </p:spTree>
    <p:extLst>
      <p:ext uri="{BB962C8B-B14F-4D97-AF65-F5344CB8AC3E}">
        <p14:creationId xmlns:p14="http://schemas.microsoft.com/office/powerpoint/2010/main" val="422313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D1D8-9D9C-47EC-9645-BDCC134F0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3278"/>
            <a:ext cx="9144000" cy="2387600"/>
          </a:xfrm>
        </p:spPr>
        <p:txBody>
          <a:bodyPr/>
          <a:lstStyle/>
          <a:p>
            <a:r>
              <a:rPr lang="en-US" dirty="0"/>
              <a:t>VISUALIZATIONS </a:t>
            </a:r>
          </a:p>
        </p:txBody>
      </p:sp>
    </p:spTree>
    <p:extLst>
      <p:ext uri="{BB962C8B-B14F-4D97-AF65-F5344CB8AC3E}">
        <p14:creationId xmlns:p14="http://schemas.microsoft.com/office/powerpoint/2010/main" val="137357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ar chart showing average energy by artist with a color gradient for loudness.">
            <a:extLst>
              <a:ext uri="{FF2B5EF4-FFF2-40B4-BE49-F238E27FC236}">
                <a16:creationId xmlns:a16="http://schemas.microsoft.com/office/drawing/2014/main" id="{5328E47D-C6C5-C575-6F48-EC3C2FB77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9143" y="62864"/>
            <a:ext cx="8941878" cy="63757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61CA93-2E06-168E-46B6-2FDA42894F32}"/>
              </a:ext>
            </a:extLst>
          </p:cNvPr>
          <p:cNvSpPr txBox="1"/>
          <p:nvPr/>
        </p:nvSpPr>
        <p:spPr>
          <a:xfrm>
            <a:off x="2142609" y="6432937"/>
            <a:ext cx="7906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bar chart showing average energy by artist with a color gradient for loudness.</a:t>
            </a:r>
          </a:p>
        </p:txBody>
      </p:sp>
    </p:spTree>
    <p:extLst>
      <p:ext uri="{BB962C8B-B14F-4D97-AF65-F5344CB8AC3E}">
        <p14:creationId xmlns:p14="http://schemas.microsoft.com/office/powerpoint/2010/main" val="185897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288A-9D1F-9846-5CBC-BD659BC3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TAKEAWAYS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8A4D-811C-F59A-84C3-8FB986BF0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We noticed that the top 15 artists have the same average energy but differ in average loudness.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loudness varies from -4 LUFS(Loudness Units Full Scale) to -16 LUFS. 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We can expand on this observation by categorizing these artists by genre to gather information on how each genre differs in loudness. </a:t>
            </a:r>
          </a:p>
        </p:txBody>
      </p:sp>
    </p:spTree>
    <p:extLst>
      <p:ext uri="{BB962C8B-B14F-4D97-AF65-F5344CB8AC3E}">
        <p14:creationId xmlns:p14="http://schemas.microsoft.com/office/powerpoint/2010/main" val="243726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A2B143BB-4B7C-92EA-BF21-DD1A0D930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75" y="232229"/>
            <a:ext cx="9335992" cy="579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84576-0BEA-A8FA-A17C-5105042EA473}"/>
              </a:ext>
            </a:extLst>
          </p:cNvPr>
          <p:cNvSpPr txBox="1"/>
          <p:nvPr/>
        </p:nvSpPr>
        <p:spPr>
          <a:xfrm>
            <a:off x="1222774" y="6256439"/>
            <a:ext cx="9746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Scatter plot showing the relationship between valence and danceability with a positive trend line.</a:t>
            </a:r>
          </a:p>
        </p:txBody>
      </p:sp>
    </p:spTree>
    <p:extLst>
      <p:ext uri="{BB962C8B-B14F-4D97-AF65-F5344CB8AC3E}">
        <p14:creationId xmlns:p14="http://schemas.microsoft.com/office/powerpoint/2010/main" val="426748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4BCC-BCB0-1FA9-15B5-56526E89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821C-14A0-3635-58B9-0A4599FB8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There is a clear positive linear relationship between the two variables, leading us to the conclusion that happier songs tend to be more danceable.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Songs with lower valence tend to be at the bottom and those with higher valence are closer to the top.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One possible drawback is that there are many potential outliers since certain sad songs tend to be danceable too. </a:t>
            </a:r>
          </a:p>
        </p:txBody>
      </p:sp>
    </p:spTree>
    <p:extLst>
      <p:ext uri="{BB962C8B-B14F-4D97-AF65-F5344CB8AC3E}">
        <p14:creationId xmlns:p14="http://schemas.microsoft.com/office/powerpoint/2010/main" val="312683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BC4C8EB1-90AF-1997-0AB1-CF23378B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5" y="359959"/>
            <a:ext cx="9521370" cy="59061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5B600B-F5A0-1542-BD45-0D8AD24F49E4}"/>
              </a:ext>
            </a:extLst>
          </p:cNvPr>
          <p:cNvSpPr txBox="1"/>
          <p:nvPr/>
        </p:nvSpPr>
        <p:spPr>
          <a:xfrm>
            <a:off x="756270" y="6313375"/>
            <a:ext cx="10882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 plot chart showing tempo distribution by music genre with six genres: rock, rap, </a:t>
            </a:r>
            <a:r>
              <a:rPr lang="en-US" dirty="0" err="1"/>
              <a:t>r&amp;b</a:t>
            </a:r>
            <a:r>
              <a:rPr lang="en-US" dirty="0"/>
              <a:t>, pop, </a:t>
            </a:r>
            <a:r>
              <a:rPr lang="en-US" dirty="0" err="1"/>
              <a:t>latin</a:t>
            </a:r>
            <a:r>
              <a:rPr lang="en-US" dirty="0"/>
              <a:t>, and </a:t>
            </a:r>
            <a:r>
              <a:rPr lang="en-US" dirty="0" err="1"/>
              <a:t>edm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89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95CE-BE9A-383B-D533-985D4F70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66B4-A0A5-84C2-2549-B13E4D632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We observed that all six genres have different levels of tempo.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EDM and Pop genres tend to have the highest tempo and R&amp;B has the lowest. 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We plan on redoing this visualization as a density plot or something similar to make it easier to make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315002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0B77-AC24-C594-828D-66011914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2A9CA-9C24-251C-1935-35DAF870F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Since the dataset is relatively large, it was hard to create visualizations that included all 32,833 tracks.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To work through this issue, we used the slice() function to select only a few columns. </a:t>
            </a:r>
          </a:p>
          <a:p>
            <a:pPr marL="0" indent="0">
              <a:buNone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For example, in the Average Energy &amp; Loudness by Artist visualization, we filtered to the top 15 artists. </a:t>
            </a:r>
          </a:p>
        </p:txBody>
      </p:sp>
    </p:spTree>
    <p:extLst>
      <p:ext uri="{BB962C8B-B14F-4D97-AF65-F5344CB8AC3E}">
        <p14:creationId xmlns:p14="http://schemas.microsoft.com/office/powerpoint/2010/main" val="3214055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355C-691D-B0A2-82F4-917B7D3F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0D6E-9FC4-5ECD-C94F-8336F13D2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will ensure that our data is properly wrangled.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We’ll continue working on and expanding our current visualizations and create well-formatted tables and other visualizations to fully understand the relationships between the audio features.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Some examples include: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Tempo through the years 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Which features determines popularity best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Artist profiles (audio features for different artists)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Submit our final project as a well-organized, reproducible report. </a:t>
            </a:r>
          </a:p>
        </p:txBody>
      </p:sp>
    </p:spTree>
    <p:extLst>
      <p:ext uri="{BB962C8B-B14F-4D97-AF65-F5344CB8AC3E}">
        <p14:creationId xmlns:p14="http://schemas.microsoft.com/office/powerpoint/2010/main" val="1560295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D293B-A0F3-7CFF-337E-E19571D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RESEARCH QUESTIONS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444B64-D06E-90B3-FB29-9DA381607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altLang="zh-CN" sz="4000" dirty="0">
                <a:latin typeface="Calibri" panose="020F0502020204030204" pitchFamily="34" charset="0"/>
                <a:cs typeface="Calibri" panose="020F0502020204030204" pitchFamily="34" charset="0"/>
              </a:rPr>
              <a:t>How do different audio features relate to each other?</a:t>
            </a:r>
          </a:p>
          <a:p>
            <a:pPr marL="0" indent="0">
              <a:buNone/>
            </a:pPr>
            <a:r>
              <a:rPr lang="en-US" altLang="zh-CN" sz="4000" dirty="0">
                <a:latin typeface="Calibri" panose="020F0502020204030204" pitchFamily="34" charset="0"/>
                <a:cs typeface="Calibri" panose="020F0502020204030204" pitchFamily="34" charset="0"/>
              </a:rPr>
              <a:t>2. Which features best predict track popularity?</a:t>
            </a:r>
          </a:p>
          <a:p>
            <a:pPr marL="0" indent="0">
              <a:buNone/>
            </a:pPr>
            <a:r>
              <a:rPr lang="en-US" altLang="zh-CN" sz="4000" dirty="0">
                <a:latin typeface="Calibri" panose="020F0502020204030204" pitchFamily="34" charset="0"/>
                <a:cs typeface="Calibri" panose="020F0502020204030204" pitchFamily="34" charset="0"/>
              </a:rPr>
              <a:t>3. How do musical attributes differ across genres?</a:t>
            </a:r>
          </a:p>
          <a:p>
            <a:pPr marL="0" indent="0">
              <a:buNone/>
            </a:pPr>
            <a:r>
              <a:rPr lang="en-US" altLang="zh-CN" sz="4000" dirty="0">
                <a:latin typeface="Calibri" panose="020F0502020204030204" pitchFamily="34" charset="0"/>
                <a:cs typeface="Calibri" panose="020F0502020204030204" pitchFamily="34" charset="0"/>
              </a:rPr>
              <a:t>4. How do tempo or energy levels change over time?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570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5030E-4165-B396-538D-F79E0E2FB6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EC2B8-7F3C-0B67-92EB-B4FC833142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118644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491</Words>
  <Application>Microsoft Macintosh PowerPoint</Application>
  <PresentationFormat>Widescreen</PresentationFormat>
  <Paragraphs>42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WORK IN PROGRESS PRESENTATION</vt:lpstr>
      <vt:lpstr>DATASET </vt:lpstr>
      <vt:lpstr>VISUALIZATIONS </vt:lpstr>
      <vt:lpstr>PowerPoint Presentation</vt:lpstr>
      <vt:lpstr>TAKEAWAYS </vt:lpstr>
      <vt:lpstr>PowerPoint Presentation</vt:lpstr>
      <vt:lpstr>TAKEAWAYS</vt:lpstr>
      <vt:lpstr>PowerPoint Presentation</vt:lpstr>
      <vt:lpstr>TAKEAWAYS</vt:lpstr>
      <vt:lpstr>CHALLENGES </vt:lpstr>
      <vt:lpstr>NEXT STEPS</vt:lpstr>
      <vt:lpstr>RESEARCH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Shukla, Rishita</dc:creator>
  <cp:lastModifiedBy>Shukla, Rishita</cp:lastModifiedBy>
  <cp:revision>5</cp:revision>
  <dcterms:created xsi:type="dcterms:W3CDTF">2025-12-08T00:06:18Z</dcterms:created>
  <dcterms:modified xsi:type="dcterms:W3CDTF">2025-12-08T04:46:12Z</dcterms:modified>
</cp:coreProperties>
</file>